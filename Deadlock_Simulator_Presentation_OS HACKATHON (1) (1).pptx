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4D5CA-FD32-4B1F-ACDD-FF5FB166F9B4}" v="1" dt="2026-03-31T04:58:15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dhasini@gmail.com" userId="f7d8d9d182633e2c" providerId="LiveId" clId="{6164D5CA-FD32-4B1F-ACDD-FF5FB166F9B4}"/>
    <pc:docChg chg="modSld">
      <pc:chgData name="gldhasini@gmail.com" userId="f7d8d9d182633e2c" providerId="LiveId" clId="{6164D5CA-FD32-4B1F-ACDD-FF5FB166F9B4}" dt="2026-03-31T04:58:27.364" v="3" actId="1076"/>
      <pc:docMkLst>
        <pc:docMk/>
      </pc:docMkLst>
      <pc:sldChg chg="addSp modSp mod">
        <pc:chgData name="gldhasini@gmail.com" userId="f7d8d9d182633e2c" providerId="LiveId" clId="{6164D5CA-FD32-4B1F-ACDD-FF5FB166F9B4}" dt="2026-03-31T04:58:27.364" v="3" actId="1076"/>
        <pc:sldMkLst>
          <pc:docMk/>
          <pc:sldMk cId="0" sldId="256"/>
        </pc:sldMkLst>
        <pc:spChg chg="add mod">
          <ac:chgData name="gldhasini@gmail.com" userId="f7d8d9d182633e2c" providerId="LiveId" clId="{6164D5CA-FD32-4B1F-ACDD-FF5FB166F9B4}" dt="2026-03-31T04:58:27.364" v="3" actId="1076"/>
          <ac:spMkLst>
            <pc:docMk/>
            <pc:sldMk cId="0" sldId="256"/>
            <ac:spMk id="13" creationId="{CA804622-BDEE-6B02-61A5-E59AB5976C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63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0093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154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1749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3003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41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4240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69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3302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0175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164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3394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44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21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-914400"/>
            <a:ext cx="3840480" cy="3840480"/>
          </a:xfrm>
          <a:prstGeom prst="ellipse">
            <a:avLst/>
          </a:prstGeom>
          <a:solidFill>
            <a:srgbClr val="DDE9F7"/>
          </a:solidFill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49440" y="-548640"/>
            <a:ext cx="3108960" cy="3108960"/>
          </a:xfrm>
          <a:prstGeom prst="ellipse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7432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80924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Resource Allocation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02920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502920" y="3108960"/>
            <a:ext cx="5029200" cy="36576"/>
          </a:xfrm>
          <a:prstGeom prst="rect">
            <a:avLst/>
          </a:prstGeom>
          <a:solidFill>
            <a:srgbClr val="3B5A82"/>
          </a:solidFill>
          <a:ln w="12700">
            <a:solidFill>
              <a:srgbClr val="3B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029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| Deadlocks &amp; Resource Management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6520" y="38176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BY: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G.LAKSHMI DHARA HASINI-2420030421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G.LAKSHMI KEERTANA-2420090075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B.YASHWANTH-2420030707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LAXMAN-2420090064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N.AKHIL SAI-2420030315</a:t>
            </a:r>
          </a:p>
        </p:txBody>
      </p:sp>
      <p:sp>
        <p:nvSpPr>
          <p:cNvPr id="16" name="Text 13"/>
          <p:cNvSpPr/>
          <p:nvPr/>
        </p:nvSpPr>
        <p:spPr>
          <a:xfrm>
            <a:off x="29718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4068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Presentation  |  Department of Computer Science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04622-BDEE-6B02-61A5-E59AB5976C05}"/>
              </a:ext>
            </a:extLst>
          </p:cNvPr>
          <p:cNvSpPr txBox="1"/>
          <p:nvPr/>
        </p:nvSpPr>
        <p:spPr>
          <a:xfrm>
            <a:off x="5070161" y="3080849"/>
            <a:ext cx="403867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buNone/>
            </a:pPr>
            <a:r>
              <a:rPr lang="en-US" sz="1800" dirty="0"/>
              <a:t>BY:</a:t>
            </a:r>
          </a:p>
          <a:p>
            <a:pPr marL="0" indent="0" algn="ctr">
              <a:buNone/>
            </a:pPr>
            <a:r>
              <a:rPr lang="en-US" sz="1800" dirty="0"/>
              <a:t>G.LAKSHMI DHARA HASINI-2420030421</a:t>
            </a:r>
            <a:br>
              <a:rPr lang="en-US" sz="1800" dirty="0"/>
            </a:br>
            <a:r>
              <a:rPr lang="en-US" sz="1800" dirty="0"/>
              <a:t>G.LAKSHMI KEERTANA-2420090075</a:t>
            </a:r>
          </a:p>
          <a:p>
            <a:pPr marL="0" indent="0" algn="ctr">
              <a:buNone/>
            </a:pPr>
            <a:r>
              <a:rPr lang="en-US" sz="1800" dirty="0"/>
              <a:t>B.YASHWANTH-2420030707</a:t>
            </a:r>
          </a:p>
          <a:p>
            <a:pPr marL="0" indent="0" algn="ctr">
              <a:buNone/>
            </a:pPr>
            <a:r>
              <a:rPr lang="en-US" sz="1800" dirty="0"/>
              <a:t>LAXMAN-2420090064</a:t>
            </a:r>
          </a:p>
          <a:p>
            <a:pPr marL="0" indent="0" algn="ctr">
              <a:buNone/>
            </a:pPr>
            <a:r>
              <a:rPr lang="en-US" sz="1800" dirty="0"/>
              <a:t>N.AKHIL SAI-2420030315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" cy="33832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5528" y="96012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53896"/>
            <a:ext cx="411480" cy="3383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4538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45389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Concepts: Deadlock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411480" cy="3383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947672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194767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Graphs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41448"/>
            <a:ext cx="411480" cy="3383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2441448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2441448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– Theory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411480" cy="33832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935224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" y="293522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Graph – Theory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29000"/>
            <a:ext cx="411480" cy="3383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42900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" y="342900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922776"/>
            <a:ext cx="411480" cy="3383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92277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" y="392277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– Part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416552"/>
            <a:ext cx="411480" cy="3383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4416552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" y="441655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– Part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960120"/>
            <a:ext cx="411480" cy="33832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96012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76088" y="96012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Features &amp; Demo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453896"/>
            <a:ext cx="411480" cy="3383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00600" y="14538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76088" y="145389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Recovery Strategies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1947672"/>
            <a:ext cx="411480" cy="3383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1947672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76088" y="194767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&amp; Test Cases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441448"/>
            <a:ext cx="411480" cy="3383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00600" y="2441448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76088" y="2441448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Complexity Analysis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2935224"/>
            <a:ext cx="411480" cy="33832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00600" y="2935224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76088" y="293522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3429000"/>
            <a:ext cx="411480" cy="3383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00600" y="342900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76088" y="342900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3922776"/>
            <a:ext cx="411480" cy="33832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00600" y="392277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76088" y="3922776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30352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182880" cy="20116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850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170432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an interactive simulator that models OS-level process scheduling and resource management. It implements Banker's Algorithm for deadlock avoidance and Wait-For Graph analysis for detection. The system visualizes resource allocation states in real-time, enabling students to observe deadlock formation, prevention, and recovery in a controlled environment. It bridges the gap between theoretical OS concepts and practical hands-on understanding.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804672"/>
            <a:ext cx="283464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0" y="804672"/>
            <a:ext cx="182880" cy="2011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99632" y="850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99632" y="117043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Deadlocks are a critical OS challenge where processes indefinitely wait for resources held by each other. Existing tools lack interactive, visual simulation capabilities.
</a:t>
            </a: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simulator that models, detects, and resolves deadlocks using proven algorithms.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2743200" cy="173736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743200" cy="2926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cannot be shared — held exclusively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017520"/>
            <a:ext cx="2743200" cy="173736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743200" cy="2926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9184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&amp; Wait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3649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holds resources while waiting for more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017520"/>
            <a:ext cx="2743200" cy="173736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7432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36499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processes waiting for each other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Concepts: The Four Deadlock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Coffman (1971) — ALL four must hold simultaneously for deadlock to occur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78308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07592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7007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resource must be held in a non-sharable mode. Only one process can use the resource at a time. Others must wait until the resource is released.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044952"/>
            <a:ext cx="4114800" cy="17830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3246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Wait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66674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holding at least one resource is waiting to acquire additional resources that are currently being held by other processes.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078992"/>
            <a:ext cx="4114800" cy="178308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37760" y="1307592"/>
            <a:ext cx="502920" cy="50292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3776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50408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170078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cannot be preempted. A resource can only be voluntarily released by the process holding it after it has completed its task.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44952"/>
            <a:ext cx="4114800" cy="1783080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37760" y="3273552"/>
            <a:ext cx="502920" cy="50292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50408" y="32461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666744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{P0, P1, …, Pn} of waiting processes exists such that P0 waits for P1, P1 waits for P2, …, Pn−1 waits for Pn, and Pn waits for P0.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Graphs (RAG)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65760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64592" cy="8229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shown as circles (P1, P2…) | Resources shown as rectangles (R1, R2…)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164592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Edge: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148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from Process → Resource means the process is requesting the resource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164592" cy="8229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834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Edge: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from Resource → Process means the resource is assigned to the process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94760"/>
            <a:ext cx="164592" cy="82296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in the RAG is a necessary condition for deadlock. With single instances, it is also sufficient.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777240"/>
            <a:ext cx="438912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34840" y="822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Graph — Example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594360" cy="594360"/>
          </a:xfrm>
          <a:prstGeom prst="ellipse">
            <a:avLst/>
          </a:prstGeom>
          <a:solidFill>
            <a:srgbClr val="0277BD">
              <a:alpha val="80000"/>
            </a:srgbClr>
          </a:solidFill>
          <a:ln w="254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594360" cy="594360"/>
          </a:xfrm>
          <a:prstGeom prst="ellipse">
            <a:avLst/>
          </a:prstGeom>
          <a:solidFill>
            <a:srgbClr val="0277BD">
              <a:alpha val="80000"/>
            </a:srgbClr>
          </a:solidFill>
          <a:ln w="254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6344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1463040"/>
            <a:ext cx="594360" cy="594360"/>
          </a:xfrm>
          <a:prstGeom prst="ellipse">
            <a:avLst/>
          </a:prstGeom>
          <a:solidFill>
            <a:srgbClr val="0277BD">
              <a:alpha val="80000"/>
            </a:srgbClr>
          </a:solidFill>
          <a:ln w="254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1323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2834640"/>
            <a:ext cx="594360" cy="594360"/>
          </a:xfrm>
          <a:prstGeom prst="ellipse">
            <a:avLst/>
          </a:prstGeom>
          <a:solidFill>
            <a:srgbClr val="0277BD">
              <a:alpha val="80000"/>
            </a:srgbClr>
          </a:solidFill>
          <a:ln w="254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3232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1371600"/>
            <a:ext cx="914400" cy="685800"/>
          </a:xfrm>
          <a:prstGeom prst="rect">
            <a:avLst/>
          </a:prstGeom>
          <a:solidFill>
            <a:srgbClr val="C62828">
              <a:alpha val="80000"/>
            </a:srgbClr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66928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16752" y="162763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669280" y="2743200"/>
            <a:ext cx="914400" cy="685800"/>
          </a:xfrm>
          <a:prstGeom prst="rect">
            <a:avLst/>
          </a:prstGeom>
          <a:solidFill>
            <a:srgbClr val="C62828">
              <a:alpha val="80000"/>
            </a:srgbClr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669280" y="27432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16752" y="299923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0" y="4206240"/>
            <a:ext cx="228600" cy="22860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4206240"/>
            <a:ext cx="320040" cy="228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Assignment / Request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— Theory &amp; Logic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Structures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49040" cy="685800"/>
          </a:xfrm>
          <a:prstGeom prst="rect">
            <a:avLst/>
          </a:prstGeom>
          <a:solidFill>
            <a:srgbClr val="DDE9F7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Available[ m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of available instances of each resource 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749040" cy="685800"/>
          </a:xfrm>
          <a:prstGeom prst="rect">
            <a:avLst/>
          </a:prstGeom>
          <a:solidFill>
            <a:srgbClr val="DDE9F7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Max[ n×m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demand of each process for each resource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749040" cy="685800"/>
          </a:xfrm>
          <a:prstGeom prst="rect">
            <a:avLst/>
          </a:prstGeom>
          <a:solidFill>
            <a:srgbClr val="DDE9F7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Allocation[ n×m 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resources currently allocated to each process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749040" cy="685800"/>
          </a:xfrm>
          <a:prstGeom prst="rect">
            <a:avLst/>
          </a:prstGeom>
          <a:solidFill>
            <a:srgbClr val="DDE9F7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Need[ n×m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resource need = Max − Allocation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Algorithm Steps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11480" cy="41148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= Available; Finish[i] = false for all 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984248"/>
            <a:ext cx="411480" cy="41148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 such that: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185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Finish[i]=false AND Need[i] ≤ Work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688336"/>
            <a:ext cx="411480" cy="41148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release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2889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= Work + Allocation[i]; Finish[i] = true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392424"/>
            <a:ext cx="411480" cy="41148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300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593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Until no such i exists in the process set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096512"/>
            <a:ext cx="411480" cy="41148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Finish[i]=true for all i → SAFE STATE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Graph (WFG) — Theory &amp; Cycle Detection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Wait-For Graph?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64592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12070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RAG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453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removing resource nodes — only processes remain as nodes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164592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13232" y="18928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Pi → Pj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1396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Pi is waiting for a resource held by Pj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164592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25786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Condition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825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in the WFG indicates a DEADLOCK among the involved processes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64408"/>
            <a:ext cx="164592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32644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Frequency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511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WFG is analyzed periodically or on each allocation/release event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164592" cy="548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" y="39502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41970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(Depth-First Search) traversal used to detect back edges (cycles)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777240"/>
            <a:ext cx="420624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Cycle Detection — Pseudocode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3931920" cy="3474720"/>
          </a:xfrm>
          <a:prstGeom prst="rect">
            <a:avLst/>
          </a:prstGeom>
          <a:solidFill>
            <a:srgbClr val="EFF5FC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261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detectCycle(graph):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14218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{}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1581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recStack = {}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17419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19019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node in graph: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20619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DFS(node, visited, recStack):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221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DEADLOCK_DETECTED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23820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NO_DEADLOCK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25420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7020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DFS(v, visited, recStack):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862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visited[v] = true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30220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recStack[v] = true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1821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neighbor in graph[v]: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33421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visited[neighbor]: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502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DFS(neighbor, …):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6621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38221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recStack[neighbor]: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39822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  # cycle!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142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recStack[v] = false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43022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560320" cy="658368"/>
          </a:xfrm>
          <a:prstGeom prst="rect">
            <a:avLst/>
          </a:prstGeom>
          <a:solidFill>
            <a:srgbClr val="009688">
              <a:alpha val="8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Visualization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80467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process/resource controls, real-time RAG rendering, safe sequence display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463040"/>
            <a:ext cx="0" cy="73152"/>
          </a:xfrm>
          <a:prstGeom prst="line">
            <a:avLst/>
          </a:prstGeom>
          <a:noFill/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85039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536192"/>
            <a:ext cx="2560320" cy="658368"/>
          </a:xfrm>
          <a:prstGeom prst="rect">
            <a:avLst/>
          </a:prstGeom>
          <a:solidFill>
            <a:srgbClr val="0277BD">
              <a:alpha val="80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53619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scheduler, resource request/release handler, state machine 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2194560"/>
            <a:ext cx="0" cy="73152"/>
          </a:xfrm>
          <a:prstGeom prst="line">
            <a:avLst/>
          </a:prstGeom>
          <a:noFill/>
          <a:ln w="254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85039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2560320" cy="658368"/>
          </a:xfrm>
          <a:prstGeom prst="rect">
            <a:avLst/>
          </a:prstGeom>
          <a:solidFill>
            <a:srgbClr val="C77700">
              <a:alpha val="80000"/>
            </a:srgbClr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2677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Module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26771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(avoidance), DFS-based WFG cycle detection (deadlock detection)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926080"/>
            <a:ext cx="0" cy="73152"/>
          </a:xfrm>
          <a:prstGeom prst="line">
            <a:avLst/>
          </a:prstGeom>
          <a:noFill/>
          <a:ln w="254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85039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2560320" cy="658368"/>
          </a:xfrm>
          <a:prstGeom prst="rect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9992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9992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matrices, Available vectors, Need tables, process state tracking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8503920" cy="1005840"/>
          </a:xfrm>
          <a:prstGeom prst="rect">
            <a:avLst/>
          </a:prstGeom>
          <a:solidFill>
            <a:srgbClr val="DDE9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12801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74520" y="4187952"/>
            <a:ext cx="12801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74520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/ PyQt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4187952"/>
            <a:ext cx="12801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91840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(graphs)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4187952"/>
            <a:ext cx="12801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09160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4187952"/>
            <a:ext cx="12801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26480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(matrices)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3800" y="4187952"/>
            <a:ext cx="128016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543800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— Banker's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4114800"/>
          </a:xfrm>
          <a:prstGeom prst="rect">
            <a:avLst/>
          </a:prstGeom>
          <a:solidFill>
            <a:srgbClr val="EFF5FC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102778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457200" y="1186891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BankersAlgorithm: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57200" y="134599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processes, resources, allocation, max_demand, available):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457200" y="150510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 = processes          # number of processes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 = resources           # number of resource types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57200" y="182331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self.allocation = np.array(allocation)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57200" y="1982419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self.max_need   = np.array(max_demand)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57200" y="2141525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self.available  = np.array(available)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457200" y="230063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self.need = self.max_need - self.allocation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57200" y="24597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57200" y="261884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is_safe(self):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57200" y="277794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work   = self.available.copy()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57200" y="2937053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finish = [False] * self.n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57200" y="309615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safe_seq = []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57200" y="32552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len(safe_seq) &lt; self.n: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57200" y="341437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progress = False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57200" y="3573475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 in range(self.n):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57200" y="3732581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not finish[i] and all(self.need[i] &lt;= work):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57200" y="389168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work += self.allocation[i]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finish[i] = True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57200" y="420989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safe_seq.append(i);  progress = True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57200" y="4369003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progress: return None  # DEADLOCK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57200" y="4528109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safe_seq  # Safe sequence found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— WFG &amp; Resource Manager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4114800"/>
          </a:xfrm>
          <a:prstGeom prst="rect">
            <a:avLst/>
          </a:prstGeom>
          <a:solidFill>
            <a:srgbClr val="EFF5FC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Graph + Cycle Detection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networkx as nx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WaitForGraph: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n_proc):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6824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self.graph = nx.DiGraph()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self.graph.add_nodes_from(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975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range(n_proc))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1214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add_wait(self, pi, pj):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4140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Pi waits for Pj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56032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self.graph.add_edge(pi, pj)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7066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8529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remove_wait(self, pi, pj):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self.graph.has_edge(pi,pj):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1455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self.graph.remove_edge(pi,pj)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29184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4381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detect_deadlock(self):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5844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373075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cycle = nx.find_cycle(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387705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self.graph, orientation='original')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True, cycle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41696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nx.NetworkXNoCycle: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431596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False, []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777240"/>
            <a:ext cx="4114800" cy="4114800"/>
          </a:xfrm>
          <a:prstGeom prst="rect">
            <a:avLst/>
          </a:prstGeom>
          <a:solidFill>
            <a:srgbClr val="EFF5FC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804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 Handler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1097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request_resources(self,pid,req):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3168" y="124358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1: Validate request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3168" y="13898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any(req &gt; self.need[pid]):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3168" y="1536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Exception('Exceeds max')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16824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any(req &gt; self.available):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73168" y="18288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'WAIT'  # must wait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73168" y="1975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73168" y="21214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2: Pretend-allocate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73168" y="22677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self.available  -= req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3168" y="24140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self.allocation[pid] += req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73168" y="2560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self.need[pid]  -= req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73168" y="27066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73168" y="28529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Safety check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73168" y="29992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safe = self.is_safe()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73168" y="31455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safe is not None: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73168" y="32918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f'GRANTED {safe}'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73168" y="34381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73168" y="35844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Rollback allocation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73168" y="37307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self.available  += req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73168" y="3877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self.allocation[pid] -= req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73168" y="4023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self.need[pid]  += req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73168" y="41696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'DENIED (unsafe)'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Features &amp; Capabilities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640080" cy="1261872"/>
          </a:xfrm>
          <a:prstGeom prst="rect">
            <a:avLst/>
          </a:prstGeom>
          <a:solidFill>
            <a:srgbClr val="009688">
              <a:alpha val="7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987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 Simulation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9848" y="13533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2–10 processes and up to 5 resource types. Set Max demand matrix interactively.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896112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800600" y="896112"/>
            <a:ext cx="640080" cy="1261872"/>
          </a:xfrm>
          <a:prstGeom prst="rect">
            <a:avLst/>
          </a:prstGeom>
          <a:solidFill>
            <a:srgbClr val="0277BD">
              <a:alpha val="70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98755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RAG Visualization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550408" y="135331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 updates on every request/release. Color-coded edges: green=assigned, red=waiting.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2286000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20040" y="2286000"/>
            <a:ext cx="640080" cy="1261872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700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9848" y="2377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Engine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69848" y="27432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WFG cycle detection after each state change. Highlights deadlocked processes in red.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2286000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800600" y="2286000"/>
            <a:ext cx="640080" cy="1261872"/>
          </a:xfrm>
          <a:prstGeom prst="rect">
            <a:avLst/>
          </a:prstGeom>
          <a:solidFill>
            <a:srgbClr val="C77700">
              <a:alpha val="70000"/>
            </a:srgbClr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7004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0408" y="23774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Sequence Finder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550408" y="27432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safety check returns safe execution order e.g., &lt;P1, P3, P0, P2, P4&gt;.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" y="3675888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20040" y="3675888"/>
            <a:ext cx="640080" cy="1261872"/>
          </a:xfrm>
          <a:prstGeom prst="rect">
            <a:avLst/>
          </a:prstGeom>
          <a:solidFill>
            <a:srgbClr val="009688">
              <a:alpha val="7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59936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9848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Strategies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69848" y="41330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modes: Process Termination, Resource Preemption, Rollback. User selects strategy.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00600" y="3675888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4800600" y="3675888"/>
            <a:ext cx="640080" cy="1261872"/>
          </a:xfrm>
          <a:prstGeom prst="rect">
            <a:avLst/>
          </a:prstGeom>
          <a:solidFill>
            <a:srgbClr val="0277BD">
              <a:alpha val="70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059936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50408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Mode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550408" y="41330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at each state, inspect matrices (Allocation, Need, Available) after every action.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&amp; Recovery Strategies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192024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20624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Detection: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WFG cycle detection every T time units.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On-Event Detection: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check on each resource request or process block.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Resource-Instance Based: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multi-instance: use Banker's detection variant.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274320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Termination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all deadlocked processes (costly)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0600" y="1399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one at a time (re-run detection)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700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victim by priority, runtime, resources held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194560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09160" y="2194560"/>
            <a:ext cx="4114800" cy="274320"/>
          </a:xfrm>
          <a:prstGeom prst="rect">
            <a:avLst/>
          </a:prstGeom>
          <a:solidFill>
            <a:srgbClr val="C77700">
              <a:alpha val="70000"/>
            </a:srgbClr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060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Preemption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victim process to preempt from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victim to safe state (checkpoint)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starvation by tracking preemption count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611880"/>
            <a:ext cx="4114800" cy="1261872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4114800" cy="274320"/>
          </a:xfrm>
          <a:prstGeom prst="rect">
            <a:avLst/>
          </a:prstGeom>
          <a:solidFill>
            <a:srgbClr val="009688">
              <a:alpha val="7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&amp; Restart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system state periodically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4233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deadlocked processes to checkpoint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4535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from last safe known state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4206240" cy="2011680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vs. Avoidance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4023360" cy="1600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9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(per-request)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(periodic)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demand 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prior 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Deadlock-free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hit deadlock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Banker's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WFG / DFS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&amp; Test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846320" cy="320040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— Example State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24712"/>
          <a:ext cx="4709160" cy="21869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Process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77B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Allocation (A B C)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777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 (A B C)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Need (A B C)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0  1  0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7  5  3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7  4  3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2  0  0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3  2  2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1  2  2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3  0  2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9  0  2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6  0  0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2  1  1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2  2  2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0  1  1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0  0  2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4  3  3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4  3  1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Available: A=3, B=3, C=2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 Sequence: P1 → P3 → P4 → P0 → P2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94960" y="777240"/>
            <a:ext cx="3429000" cy="320040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532120" y="822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188720"/>
            <a:ext cx="640080" cy="320040"/>
          </a:xfrm>
          <a:prstGeom prst="rect">
            <a:avLst/>
          </a:prstGeom>
          <a:solidFill>
            <a:srgbClr val="009688">
              <a:alpha val="8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486400" y="1188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99632" y="1188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TC-01: Safe state with valid sequence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486400" y="1664208"/>
            <a:ext cx="640080" cy="320040"/>
          </a:xfrm>
          <a:prstGeom prst="rect">
            <a:avLst/>
          </a:prstGeom>
          <a:solidFill>
            <a:srgbClr val="009688">
              <a:alpha val="8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0" y="16642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99632" y="1664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TC-02: Safe request granted correctly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0" y="2139696"/>
            <a:ext cx="640080" cy="320040"/>
          </a:xfrm>
          <a:prstGeom prst="rect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486400" y="21396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99632" y="21396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TC-03: Unsafe request denied (rollback)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0" y="2615184"/>
            <a:ext cx="640080" cy="320040"/>
          </a:xfrm>
          <a:prstGeom prst="rect">
            <a:avLst/>
          </a:prstGeom>
          <a:solidFill>
            <a:srgbClr val="C62828">
              <a:alpha val="8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486400" y="26151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99632" y="26151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TC-04: Deadlock detected via WFG cycle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0" y="3090672"/>
            <a:ext cx="640080" cy="320040"/>
          </a:xfrm>
          <a:prstGeom prst="rect">
            <a:avLst/>
          </a:prstGeom>
          <a:solidFill>
            <a:srgbClr val="C77700">
              <a:alpha val="80000"/>
            </a:srgbClr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486400" y="30906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99632" y="30906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TC-05: Recovery via process termination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0" y="3566160"/>
            <a:ext cx="640080" cy="320040"/>
          </a:xfrm>
          <a:prstGeom prst="rect">
            <a:avLst/>
          </a:prstGeom>
          <a:solidFill>
            <a:srgbClr val="009688">
              <a:alpha val="8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486400" y="3566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99632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TC-06: All resources released — clean state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EFF5FC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7200" y="4059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Console Output: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297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 Process P1 requests [1,0,2]... checking safety... GRANTED | Safe seq: P1→P3→P4→P0→P2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7200" y="45171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Deadlock detected! Cycle: P2 → P3 → P2 | Recovery: Terminating P3 (lowest priority)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1920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Complexity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114800" cy="1417320"/>
          </a:xfrm>
          <a:prstGeom prst="rect">
            <a:avLst/>
          </a:prstGeom>
          <a:solidFill>
            <a:srgbClr val="EAF2FB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114800" cy="274320"/>
          </a:xfrm>
          <a:prstGeom prst="rect">
            <a:avLst/>
          </a:prstGeom>
          <a:solidFill>
            <a:srgbClr val="009688">
              <a:alpha val="7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Safety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 × 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processes, m = resource types. Inner loop per process pass.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896112"/>
            <a:ext cx="4114800" cy="141732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00600" y="896112"/>
            <a:ext cx="4114800" cy="274320"/>
          </a:xfrm>
          <a:prstGeom prst="rect">
            <a:avLst/>
          </a:prstGeom>
          <a:solidFill>
            <a:srgbClr val="C77700">
              <a:alpha val="70000"/>
            </a:srgbClr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 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2435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 × 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536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× 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856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safety algorithm after tentative allocation.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450592"/>
            <a:ext cx="4114800" cy="1417320"/>
          </a:xfrm>
          <a:prstGeom prst="rect">
            <a:avLst/>
          </a:prstGeom>
          <a:solidFill>
            <a:srgbClr val="EAF2FB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450592"/>
            <a:ext cx="4114800" cy="274320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WFG Cycle Detection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980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traversal. V = processes, E = wait edges. Very efficient.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450592"/>
            <a:ext cx="4114800" cy="1417320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00600" y="2450592"/>
            <a:ext cx="4114800" cy="274320"/>
          </a:xfrm>
          <a:prstGeom prst="rect">
            <a:avLst/>
          </a:prstGeom>
          <a:solidFill>
            <a:srgbClr val="0277BD">
              <a:alpha val="70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9204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Visualization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7980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3090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rendering based on NetworkX/Matplotlib layout algorithms.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133088"/>
            <a:ext cx="8503920" cy="777240"/>
          </a:xfrm>
          <a:prstGeom prst="rect">
            <a:avLst/>
          </a:prstGeom>
          <a:solidFill>
            <a:srgbClr val="DDE9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41696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 (5 processes, 3 resource types, 1000 iterations)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 ms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4654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Safety Check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6032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0.5 ms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560320" y="4654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WFG Cycle Detect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~12 MB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63440" y="4654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FPS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6560" y="4654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Refresh Rate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Outcomes, Learning Goals &amp; Conclusion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114800" cy="2240280"/>
          </a:xfrm>
          <a:prstGeom prst="rect">
            <a:avLst/>
          </a:prstGeom>
          <a:solidFill>
            <a:srgbClr val="EAF2FB"/>
          </a:solidFill>
          <a:ln w="12700">
            <a:solidFill>
              <a:srgbClr val="C77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114800" cy="274320"/>
          </a:xfrm>
          <a:prstGeom prst="rect">
            <a:avLst/>
          </a:prstGeom>
          <a:solidFill>
            <a:srgbClr val="C77700">
              <a:alpha val="70000"/>
            </a:srgbClr>
          </a:solidFill>
          <a:ln w="1270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simulator with Banker's Algorithm and WFG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RAG visualization with interactive controls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deadlocks within milliseconds of occurrence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safe-sequence output and recovery suggestions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suite covering all four deadlock conditions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685800"/>
            <a:ext cx="4114800" cy="2240280"/>
          </a:xfrm>
          <a:prstGeom prst="rect">
            <a:avLst/>
          </a:prstGeom>
          <a:solidFill>
            <a:srgbClr val="EAF2FB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0277BD">
              <a:alpha val="70000"/>
            </a:srgbClr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0" y="685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all four necessary deadlock conditions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construct and analyze Resource Allocation Graphs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mastery of Banker's Algorithm for safe-state checks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WFG-based deadlock detection via DFS cycles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with OS-level recovery strategies and trade-offs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8503920" cy="1234440"/>
          </a:xfrm>
          <a:prstGeom prst="rect">
            <a:avLst/>
          </a:prstGeom>
          <a:solidFill>
            <a:srgbClr val="DDE9F7"/>
          </a:solidFill>
          <a:ln w="12700">
            <a:solidFill>
              <a:srgbClr val="0096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201168" cy="12344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401568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Deadlock Detection &amp; Resource Allocation Simulator provides a holistic, hands-on learning environment for Operating Systems concepts. By combining Banker's Algorithm for avoidance with Wait-For Graph analysis for detection, students gain comprehensive insight into how modern OS kernels prevent and recover from deadlocks. The tool's real-time visualization and step-by-step mode transform abstract theoretical concepts into observable, interactive experiences — bridging the gap between OS theory and systems programming practice.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850392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4434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Galvin &amp; Gagne — Operating System Concepts (10th Ed.)  |  Tanenbaum — Modern Operating Systems (4th Ed.)  |  Coffman et al. (1971) — System Deadlocks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54480" y="4681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networkx.org  |  matplotlib.org  |  numpy.org  |  Python Docs — threading module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1E992-94F8-3EC2-F3AE-AE88710F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7" y="91440"/>
            <a:ext cx="4245656" cy="2528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862CBC-3128-874F-BE2A-8367013DA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508" y="91441"/>
            <a:ext cx="4093698" cy="2504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E3DD8-D004-7231-3CB2-4435CEFB9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646" y="2619815"/>
            <a:ext cx="5247249" cy="230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4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34A7B-3093-701C-DC9E-92BA1EDEA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47" y="802738"/>
            <a:ext cx="7249440" cy="353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3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15DB-FD80-330B-D494-7A89A00D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71523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1A3A5C"/>
      </a:dk2>
      <a:lt2>
        <a:srgbClr val="DFE3E5"/>
      </a:lt2>
      <a:accent1>
        <a:srgbClr val="0277BD"/>
      </a:accent1>
      <a:accent2>
        <a:srgbClr val="009688"/>
      </a:accent2>
      <a:accent3>
        <a:srgbClr val="00ACC1"/>
      </a:accent3>
      <a:accent4>
        <a:srgbClr val="C62828"/>
      </a:accent4>
      <a:accent5>
        <a:srgbClr val="C77700"/>
      </a:accent5>
      <a:accent6>
        <a:srgbClr val="3B5A82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2383</Words>
  <Application>Microsoft Office PowerPoint</Application>
  <PresentationFormat>On-screen Show (16:9)</PresentationFormat>
  <Paragraphs>389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Consolas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 Detection &amp; Resource Allocation Simulator</dc:title>
  <dc:subject>PptxGenJS Presentation</dc:subject>
  <dc:creator>OS Lab</dc:creator>
  <cp:lastModifiedBy>lakshmi keertana</cp:lastModifiedBy>
  <cp:revision>4</cp:revision>
  <dcterms:created xsi:type="dcterms:W3CDTF">2026-03-30T04:00:11Z</dcterms:created>
  <dcterms:modified xsi:type="dcterms:W3CDTF">2026-04-06T03:05:41Z</dcterms:modified>
</cp:coreProperties>
</file>